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60" r:id="rId6"/>
    <p:sldId id="261" r:id="rId7"/>
    <p:sldId id="262" r:id="rId8"/>
    <p:sldId id="263" r:id="rId9"/>
    <p:sldId id="264" r:id="rId10"/>
    <p:sldId id="265" r:id="rId11"/>
    <p:sldId id="266" r:id="rId12"/>
    <p:sldId id="268" r:id="rId13"/>
    <p:sldId id="269" r:id="rId14"/>
    <p:sldId id="267" r:id="rId15"/>
    <p:sldId id="270" r:id="rId16"/>
    <p:sldId id="27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46CE7D5-CF57-46EF-B807-FDD0502418D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846CE7D5-CF57-46EF-B807-FDD0502418D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0" y="-20226"/>
            <a:ext cx="12076981" cy="6880820"/>
          </a:xfrm>
        </p:spPr>
        <p:txBody>
          <a:bodyPr vert="horz" lIns="91440" tIns="45720" rIns="91440" bIns="45720" rtlCol="0" anchor="b">
            <a:noAutofit/>
          </a:bodyPr>
          <a:lstStyle/>
          <a:p>
            <a:br>
              <a:rPr lang="en-US" sz="2800" b="1" dirty="0">
                <a:latin typeface="Times New Roman" panose="02020603050405020304"/>
                <a:ea typeface="Times New Roman" panose="02020603050405020304"/>
                <a:cs typeface="Times New Roman" panose="02020603050405020304"/>
              </a:rPr>
            </a:br>
            <a:br>
              <a:rPr lang="en-US" sz="2800" b="1" dirty="0">
                <a:latin typeface="Times New Roman" panose="02020603050405020304"/>
                <a:ea typeface="Times New Roman" panose="02020603050405020304"/>
                <a:cs typeface="Times New Roman" panose="02020603050405020304"/>
              </a:rPr>
            </a:br>
            <a:r>
              <a:rPr lang="en-US" sz="2800" b="1" dirty="0">
                <a:latin typeface="Times New Roman" panose="02020603050405020304"/>
                <a:ea typeface="Times New Roman" panose="02020603050405020304"/>
                <a:cs typeface="Times New Roman" panose="02020603050405020304"/>
              </a:rPr>
              <a:t>INTERNSHIP REPORT</a:t>
            </a:r>
            <a:endParaRPr lang="en-US" sz="2800" b="1" dirty="0">
              <a:latin typeface="Times New Roman" panose="02020603050405020304"/>
              <a:ea typeface="Times New Roman" panose="02020603050405020304"/>
              <a:cs typeface="Times New Roman" panose="02020603050405020304"/>
            </a:endParaRPr>
          </a:p>
          <a:p>
            <a:pPr algn="ctr"/>
            <a:r>
              <a:rPr lang="en-US" sz="2800" dirty="0">
                <a:latin typeface="Times New Roman" panose="02020603050405020304"/>
                <a:ea typeface="Times New Roman" panose="02020603050405020304"/>
                <a:cs typeface="Times New Roman" panose="02020603050405020304"/>
              </a:rPr>
              <a:t>On</a:t>
            </a:r>
            <a:endParaRPr lang="en-US" sz="2800" dirty="0">
              <a:latin typeface="Times New Roman" panose="02020603050405020304"/>
              <a:ea typeface="Times New Roman" panose="02020603050405020304"/>
              <a:cs typeface="Times New Roman" panose="02020603050405020304"/>
            </a:endParaRPr>
          </a:p>
          <a:p>
            <a:r>
              <a:rPr lang="en-US" sz="2800" b="1" dirty="0">
                <a:latin typeface="Times New Roman" panose="02020603050405020304"/>
                <a:ea typeface="Times New Roman" panose="02020603050405020304"/>
                <a:cs typeface="Times New Roman" panose="02020603050405020304"/>
              </a:rPr>
              <a:t>Frontend Development internship at CodSoft</a:t>
            </a:r>
            <a:br>
              <a:rPr lang="en-US" sz="2800" dirty="0">
                <a:latin typeface="Times New Roman" panose="02020603050405020304"/>
                <a:ea typeface="Times New Roman" panose="02020603050405020304"/>
                <a:cs typeface="Times New Roman" panose="02020603050405020304"/>
              </a:rPr>
            </a:br>
            <a:br>
              <a:rPr lang="en-US" sz="2800" dirty="0">
                <a:latin typeface="Times New Roman" panose="02020603050405020304"/>
                <a:ea typeface="Times New Roman" panose="02020603050405020304"/>
                <a:cs typeface="Times New Roman" panose="02020603050405020304"/>
              </a:rPr>
            </a:br>
            <a:r>
              <a:rPr lang="en-US" sz="2800" dirty="0">
                <a:latin typeface="Times New Roman" panose="02020603050405020304"/>
                <a:ea typeface="Times New Roman" panose="02020603050405020304"/>
                <a:cs typeface="Times New Roman" panose="02020603050405020304"/>
              </a:rPr>
              <a:t>Submitted</a:t>
            </a:r>
            <a:br>
              <a:rPr lang="en-US" sz="2800" dirty="0">
                <a:latin typeface="Times New Roman" panose="02020603050405020304"/>
                <a:ea typeface="Times New Roman" panose="02020603050405020304"/>
                <a:cs typeface="Times New Roman" panose="02020603050405020304"/>
              </a:rPr>
            </a:br>
            <a:endParaRPr lang="en-US" sz="2800" dirty="0">
              <a:latin typeface="Times New Roman" panose="02020603050405020304"/>
              <a:ea typeface="Times New Roman" panose="02020603050405020304"/>
              <a:cs typeface="Times New Roman" panose="02020603050405020304"/>
            </a:endParaRPr>
          </a:p>
          <a:p>
            <a:r>
              <a:rPr lang="en-US" sz="2800" dirty="0">
                <a:latin typeface="Times New Roman" panose="02020603050405020304"/>
                <a:ea typeface="Times New Roman" panose="02020603050405020304"/>
                <a:cs typeface="Times New Roman" panose="02020603050405020304"/>
              </a:rPr>
              <a:t>To</a:t>
            </a:r>
            <a:br>
              <a:rPr lang="en-US" sz="2800" dirty="0">
                <a:latin typeface="Times New Roman" panose="02020603050405020304"/>
                <a:ea typeface="Times New Roman" panose="02020603050405020304"/>
                <a:cs typeface="Times New Roman" panose="02020603050405020304"/>
              </a:rPr>
            </a:br>
            <a:endParaRPr lang="en-US" sz="2800" dirty="0">
              <a:latin typeface="Times New Roman" panose="02020603050405020304"/>
              <a:ea typeface="Times New Roman" panose="02020603050405020304"/>
              <a:cs typeface="Times New Roman" panose="02020603050405020304"/>
            </a:endParaRPr>
          </a:p>
          <a:p>
            <a:pPr algn="ctr"/>
            <a:r>
              <a:rPr lang="en-US" sz="2800" b="1" dirty="0">
                <a:latin typeface="Times New Roman" panose="02020603050405020304"/>
                <a:ea typeface="Times New Roman" panose="02020603050405020304"/>
                <a:cs typeface="Times New Roman" panose="02020603050405020304"/>
              </a:rPr>
              <a:t>School of Computer Science and Engineering</a:t>
            </a:r>
            <a:endParaRPr lang="en-US" sz="2800" b="1" dirty="0">
              <a:latin typeface="Times New Roman" panose="02020603050405020304"/>
              <a:ea typeface="Times New Roman" panose="02020603050405020304"/>
              <a:cs typeface="Times New Roman" panose="02020603050405020304"/>
            </a:endParaRPr>
          </a:p>
          <a:p>
            <a:r>
              <a:rPr lang="en-US" sz="2800" b="1" dirty="0">
                <a:latin typeface="Times New Roman" panose="02020603050405020304"/>
                <a:ea typeface="Times New Roman" panose="02020603050405020304"/>
                <a:cs typeface="Times New Roman" panose="02020603050405020304"/>
              </a:rPr>
              <a:t>IILM University, Greater Noida, U.P.</a:t>
            </a:r>
            <a:br>
              <a:rPr lang="en-US" sz="2800" b="1" dirty="0">
                <a:latin typeface="Times New Roman" panose="02020603050405020304"/>
                <a:ea typeface="Times New Roman" panose="02020603050405020304"/>
                <a:cs typeface="Times New Roman" panose="02020603050405020304"/>
              </a:rPr>
            </a:br>
            <a:endParaRPr lang="en-US" sz="2800" b="1" dirty="0">
              <a:latin typeface="Times New Roman" panose="02020603050405020304"/>
              <a:ea typeface="Times New Roman" panose="02020603050405020304"/>
              <a:cs typeface="Times New Roman" panose="02020603050405020304"/>
            </a:endParaRPr>
          </a:p>
          <a:p>
            <a:pPr algn="ctr"/>
            <a:r>
              <a:rPr lang="en-US" sz="2800" dirty="0">
                <a:latin typeface="Times New Roman" panose="02020603050405020304"/>
                <a:ea typeface="Times New Roman" panose="02020603050405020304"/>
                <a:cs typeface="Times New Roman" panose="02020603050405020304"/>
              </a:rPr>
              <a:t>In partial fulfilment of the requirement of degree of</a:t>
            </a:r>
            <a:endParaRPr lang="en-US" sz="2800" dirty="0">
              <a:latin typeface="Times New Roman" panose="02020603050405020304"/>
              <a:ea typeface="Times New Roman" panose="02020603050405020304"/>
              <a:cs typeface="Times New Roman" panose="02020603050405020304"/>
            </a:endParaRPr>
          </a:p>
          <a:p>
            <a:pPr algn="ctr"/>
            <a:r>
              <a:rPr lang="en-US" sz="2800" b="1" dirty="0">
                <a:latin typeface="Times New Roman" panose="02020603050405020304"/>
                <a:ea typeface="Times New Roman" panose="02020603050405020304"/>
                <a:cs typeface="Times New Roman" panose="02020603050405020304"/>
              </a:rPr>
              <a:t>B.Tech CSE</a:t>
            </a:r>
            <a:endParaRPr lang="en-US" sz="2800" b="1" dirty="0">
              <a:latin typeface="Times New Roman" panose="02020603050405020304"/>
              <a:ea typeface="Times New Roman" panose="02020603050405020304"/>
              <a:cs typeface="Times New Roman" panose="02020603050405020304"/>
            </a:endParaRPr>
          </a:p>
          <a:p>
            <a:pPr algn="ctr"/>
            <a:r>
              <a:rPr lang="en-US" sz="2800" dirty="0">
                <a:latin typeface="Calibri" panose="020F0502020204030204"/>
                <a:ea typeface="Calibri" panose="020F0502020204030204"/>
                <a:cs typeface="Calibri" panose="020F0502020204030204"/>
              </a:rPr>
              <a:t> </a:t>
            </a:r>
            <a:endParaRPr lang="en-US" sz="2800" dirty="0">
              <a:latin typeface="Calibri" panose="020F0502020204030204"/>
              <a:ea typeface="Calibri" panose="020F0502020204030204"/>
              <a:cs typeface="Calibri" panose="020F0502020204030204"/>
            </a:endParaRPr>
          </a:p>
          <a:p>
            <a:pPr algn="ctr"/>
            <a:r>
              <a:rPr lang="en-US" sz="2800" dirty="0">
                <a:latin typeface="Times New Roman" panose="02020603050405020304"/>
                <a:ea typeface="Times New Roman" panose="02020603050405020304"/>
                <a:cs typeface="Times New Roman" panose="02020603050405020304"/>
              </a:rPr>
              <a:t>By</a:t>
            </a:r>
            <a:endParaRPr lang="en-US" sz="2800" dirty="0">
              <a:latin typeface="Times New Roman" panose="02020603050405020304"/>
              <a:ea typeface="Times New Roman" panose="02020603050405020304"/>
              <a:cs typeface="Times New Roman" panose="02020603050405020304"/>
            </a:endParaRPr>
          </a:p>
          <a:p>
            <a:pPr algn="ctr"/>
            <a:r>
              <a:rPr lang="en-US" sz="2800" dirty="0">
                <a:latin typeface="Times New Roman" panose="02020603050405020304"/>
                <a:ea typeface="Times New Roman" panose="02020603050405020304"/>
                <a:cs typeface="Times New Roman" panose="02020603050405020304"/>
              </a:rPr>
              <a:t>Roll Number of Student: 25SCS1003002329</a:t>
            </a:r>
            <a:endParaRPr lang="en-US" sz="2800" dirty="0">
              <a:latin typeface="Times New Roman" panose="02020603050405020304"/>
              <a:ea typeface="Times New Roman" panose="02020603050405020304"/>
              <a:cs typeface="Times New Roman" panose="02020603050405020304"/>
            </a:endParaRPr>
          </a:p>
          <a:p>
            <a:r>
              <a:rPr lang="en-US" sz="2800" dirty="0">
                <a:latin typeface="Times New Roman" panose="02020603050405020304"/>
                <a:ea typeface="Times New Roman" panose="02020603050405020304"/>
                <a:cs typeface="Times New Roman" panose="02020603050405020304"/>
              </a:rPr>
              <a:t>Name of Student: RITIKA SINGH</a:t>
            </a:r>
            <a:br>
              <a:rPr lang="en-US" sz="2800" dirty="0">
                <a:latin typeface="Times New Roman" panose="02020603050405020304"/>
                <a:ea typeface="Times New Roman" panose="02020603050405020304"/>
                <a:cs typeface="Times New Roman" panose="02020603050405020304"/>
              </a:rPr>
            </a:br>
            <a:r>
              <a:rPr lang="en-US" sz="2800" dirty="0">
                <a:latin typeface="Times New Roman" panose="02020603050405020304"/>
                <a:ea typeface="Times New Roman" panose="02020603050405020304"/>
                <a:cs typeface="Times New Roman" panose="02020603050405020304"/>
              </a:rPr>
              <a:t>Batch: 2026-27</a:t>
            </a:r>
            <a:endParaRPr lang="en-US" sz="2800" dirty="0">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17"/>
            <a:ext cx="10515600" cy="949783"/>
          </a:xfrm>
        </p:spPr>
        <p:txBody>
          <a:bodyPr>
            <a:normAutofit/>
          </a:bodyPr>
          <a:lstStyle/>
          <a:p>
            <a:r>
              <a:rPr lang="en-US" dirty="0"/>
              <a:t>CANDIDATE's DECLARATION</a:t>
            </a:r>
            <a:endParaRPr lang="en-US" dirty="0"/>
          </a:p>
        </p:txBody>
      </p:sp>
      <p:sp>
        <p:nvSpPr>
          <p:cNvPr id="3" name="Content Placeholder 2"/>
          <p:cNvSpPr>
            <a:spLocks noGrp="1"/>
          </p:cNvSpPr>
          <p:nvPr>
            <p:ph idx="1"/>
          </p:nvPr>
        </p:nvSpPr>
        <p:spPr>
          <a:xfrm>
            <a:off x="838200" y="833982"/>
            <a:ext cx="10515600" cy="5342981"/>
          </a:xfrm>
        </p:spPr>
        <p:txBody>
          <a:bodyPr vert="horz" lIns="91440" tIns="45720" rIns="91440" bIns="45720" rtlCol="0" anchor="t">
            <a:normAutofit/>
          </a:bodyPr>
          <a:lstStyle/>
          <a:p>
            <a:pPr marL="0" indent="0">
              <a:buNone/>
            </a:pPr>
            <a:endParaRPr lang="en-US" dirty="0">
              <a:ea typeface="+mn-lt"/>
              <a:cs typeface="+mn-lt"/>
            </a:endParaRPr>
          </a:p>
          <a:p>
            <a:pPr marL="0" indent="0">
              <a:buNone/>
            </a:pPr>
            <a:r>
              <a:rPr lang="en-US" sz="1800" dirty="0">
                <a:ea typeface="+mn-lt"/>
                <a:cs typeface="+mn-lt"/>
              </a:rPr>
              <a:t>I hereby declare that the internship report titled “Frontend Development at </a:t>
            </a:r>
            <a:r>
              <a:rPr lang="en-US" sz="1800" dirty="0" err="1">
                <a:ea typeface="+mn-lt"/>
                <a:cs typeface="+mn-lt"/>
              </a:rPr>
              <a:t>CodSoft</a:t>
            </a:r>
            <a:r>
              <a:rPr lang="en-US" sz="1800" dirty="0">
                <a:ea typeface="+mn-lt"/>
                <a:cs typeface="+mn-lt"/>
              </a:rPr>
              <a:t>” is an original work completed by me in partial fulfillment of the requirements for the degree of Bachelor of Technology in Computer Science and Engineering at IILM University, Greater Noida.</a:t>
            </a:r>
            <a:endParaRPr lang="en-US" sz="1800"/>
          </a:p>
          <a:p>
            <a:pPr marL="0" indent="0">
              <a:buNone/>
            </a:pPr>
            <a:r>
              <a:rPr lang="en-US" sz="1800" dirty="0">
                <a:ea typeface="+mn-lt"/>
                <a:cs typeface="+mn-lt"/>
              </a:rPr>
              <a:t>  I confirm that the work presented in this report is based on the tasks and projects completed by me           during my internship. All sources, references, tools, and external materials used in the preparation of           this report have been appropriately acknowledged. This report has not been submitted previously to any      other institution or university for the award of any degree or diploma.</a:t>
            </a:r>
            <a:endParaRPr lang="en-US" sz="1800"/>
          </a:p>
          <a:p>
            <a:pPr marL="0" indent="0">
              <a:buNone/>
            </a:pPr>
            <a:r>
              <a:rPr lang="en-US" sz="1800" dirty="0">
                <a:ea typeface="+mn-lt"/>
                <a:cs typeface="+mn-lt"/>
              </a:rPr>
              <a:t> I take full responsibility for the authenticity and originality of the work presented in this report.</a:t>
            </a:r>
            <a:endParaRPr lang="en-US" sz="1800" dirty="0"/>
          </a:p>
          <a:p>
            <a:pPr marL="0" indent="0">
              <a:buNone/>
            </a:pPr>
            <a:endParaRPr lang="en-US" sz="1800" dirty="0">
              <a:ea typeface="+mn-lt"/>
              <a:cs typeface="+mn-lt"/>
            </a:endParaRPr>
          </a:p>
          <a:p>
            <a:pPr marL="0" indent="0">
              <a:buNone/>
            </a:pPr>
            <a:r>
              <a:rPr lang="en-US" sz="1800" dirty="0">
                <a:ea typeface="+mn-lt"/>
                <a:cs typeface="+mn-lt"/>
              </a:rPr>
              <a:t>signature    </a:t>
            </a:r>
            <a:endParaRPr lang="en-US" sz="1800" dirty="0">
              <a:ea typeface="+mn-lt"/>
              <a:cs typeface="+mn-lt"/>
            </a:endParaRPr>
          </a:p>
          <a:p>
            <a:pPr marL="0" indent="0">
              <a:buNone/>
            </a:pPr>
            <a:r>
              <a:rPr lang="en-US" sz="1800" dirty="0">
                <a:ea typeface="+mn-lt"/>
                <a:cs typeface="+mn-lt"/>
              </a:rPr>
              <a:t> Student Name: Ritika Singh</a:t>
            </a:r>
            <a:br>
              <a:rPr lang="en-US" sz="1800" dirty="0">
                <a:ea typeface="+mn-lt"/>
                <a:cs typeface="+mn-lt"/>
              </a:rPr>
            </a:br>
            <a:r>
              <a:rPr lang="en-US" sz="1800" dirty="0">
                <a:ea typeface="+mn-lt"/>
                <a:cs typeface="+mn-lt"/>
              </a:rPr>
              <a:t>   Program: </a:t>
            </a:r>
            <a:r>
              <a:rPr lang="en-US" sz="1800" dirty="0" err="1">
                <a:ea typeface="+mn-lt"/>
                <a:cs typeface="+mn-lt"/>
              </a:rPr>
              <a:t>B.Tech</a:t>
            </a:r>
            <a:r>
              <a:rPr lang="en-US" sz="1800" dirty="0">
                <a:ea typeface="+mn-lt"/>
                <a:cs typeface="+mn-lt"/>
              </a:rPr>
              <a:t> CSE</a:t>
            </a:r>
            <a:endParaRPr lang="en-US"/>
          </a:p>
          <a:p>
            <a:pPr marL="0" indent="0">
              <a:buNone/>
            </a:pPr>
            <a:r>
              <a:rPr lang="en-US" sz="1800" dirty="0">
                <a:ea typeface="+mn-lt"/>
                <a:cs typeface="+mn-lt"/>
              </a:rPr>
              <a:t>Student roll no.-25SCS1003002329</a:t>
            </a:r>
            <a:endParaRPr lang="en-US" sz="1800" dirty="0">
              <a:ea typeface="+mn-lt"/>
              <a:cs typeface="+mn-lt"/>
            </a:endParaRPr>
          </a:p>
          <a:p>
            <a:pPr marL="0" indent="0">
              <a:buNone/>
            </a:pPr>
            <a:r>
              <a:rPr lang="en-US" sz="1800" dirty="0">
                <a:ea typeface="+mn-lt"/>
                <a:cs typeface="+mn-lt"/>
              </a:rPr>
              <a:t>    </a:t>
            </a:r>
            <a:br>
              <a:rPr lang="en-US" sz="1800" dirty="0">
                <a:ea typeface="+mn-lt"/>
                <a:cs typeface="+mn-lt"/>
              </a:rPr>
            </a:br>
            <a:r>
              <a:rPr lang="en-US" sz="1800" dirty="0">
                <a:ea typeface="+mn-lt"/>
                <a:cs typeface="+mn-lt"/>
              </a:rPr>
              <a:t> </a:t>
            </a:r>
            <a:endParaRPr lang="en-US" sz="1800"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ACKNOWLEDGEMENT</a:t>
            </a:r>
            <a:endParaRPr lang="en-US" dirty="0"/>
          </a:p>
        </p:txBody>
      </p:sp>
      <p:sp>
        <p:nvSpPr>
          <p:cNvPr id="3" name="Content Placeholder 2"/>
          <p:cNvSpPr>
            <a:spLocks noGrp="1"/>
          </p:cNvSpPr>
          <p:nvPr>
            <p:ph idx="1"/>
          </p:nvPr>
        </p:nvSpPr>
        <p:spPr>
          <a:xfrm>
            <a:off x="608557" y="1282831"/>
            <a:ext cx="10745243" cy="5228159"/>
          </a:xfrm>
        </p:spPr>
        <p:txBody>
          <a:bodyPr vert="horz" lIns="91440" tIns="45720" rIns="91440" bIns="45720" rtlCol="0" anchor="t">
            <a:normAutofit/>
          </a:bodyPr>
          <a:lstStyle/>
          <a:p>
            <a:pPr marL="0" indent="0">
              <a:buNone/>
            </a:pPr>
            <a:r>
              <a:rPr lang="en-US" sz="1800" dirty="0">
                <a:ea typeface="+mn-lt"/>
                <a:cs typeface="+mn-lt"/>
              </a:rPr>
              <a:t>I would like to express my sincere gratitude to IILM University, Greater Noida for providing me with the opportunity to undertake this internship as a part of my </a:t>
            </a:r>
            <a:r>
              <a:rPr lang="en-US" sz="1800" dirty="0" err="1">
                <a:ea typeface="+mn-lt"/>
                <a:cs typeface="+mn-lt"/>
              </a:rPr>
              <a:t>B.Tech</a:t>
            </a:r>
            <a:r>
              <a:rPr lang="en-US" sz="1800" dirty="0">
                <a:ea typeface="+mn-lt"/>
                <a:cs typeface="+mn-lt"/>
              </a:rPr>
              <a:t> in Computer Science and Engineering.</a:t>
            </a:r>
            <a:endParaRPr lang="en-US" sz="1800"/>
          </a:p>
          <a:p>
            <a:pPr marL="0" indent="0">
              <a:buNone/>
            </a:pPr>
            <a:r>
              <a:rPr lang="en-US" sz="1800" dirty="0">
                <a:ea typeface="+mn-lt"/>
                <a:cs typeface="+mn-lt"/>
              </a:rPr>
              <a:t>I am thankful to my faculty members and mentors for their valuable guidance, support, and constructive feedback throughout the internship. Their guidance helped me understand the practical application of technical concepts and improve my skills through hands-on project work.</a:t>
            </a:r>
            <a:endParaRPr lang="en-US" sz="1800" dirty="0">
              <a:ea typeface="+mn-lt"/>
              <a:cs typeface="+mn-lt"/>
            </a:endParaRPr>
          </a:p>
          <a:p>
            <a:pPr marL="0" indent="0">
              <a:buNone/>
            </a:pPr>
            <a:r>
              <a:rPr lang="en-US" sz="1800" dirty="0">
                <a:ea typeface="+mn-lt"/>
                <a:cs typeface="+mn-lt"/>
              </a:rPr>
              <a:t>I would also like to express my gratitude to </a:t>
            </a:r>
            <a:r>
              <a:rPr lang="en-US" sz="1800" dirty="0" err="1">
                <a:ea typeface="+mn-lt"/>
                <a:cs typeface="+mn-lt"/>
              </a:rPr>
              <a:t>CodSoft</a:t>
            </a:r>
            <a:r>
              <a:rPr lang="en-US" sz="1800" dirty="0">
                <a:ea typeface="+mn-lt"/>
                <a:cs typeface="+mn-lt"/>
              </a:rPr>
              <a:t> for providing me with the opportunity to gain practical experience and work on real-world projects. The internship helped me explore different technologies, strengthen my technical knowledge, and develop a better understanding of professional work practices.</a:t>
            </a:r>
            <a:endParaRPr lang="en-US" sz="1800" dirty="0">
              <a:ea typeface="+mn-lt"/>
              <a:cs typeface="+mn-lt"/>
            </a:endParaRPr>
          </a:p>
          <a:p>
            <a:pPr marL="0" indent="0">
              <a:buNone/>
            </a:pPr>
            <a:r>
              <a:rPr lang="en-US" sz="1800" dirty="0">
                <a:ea typeface="+mn-lt"/>
                <a:cs typeface="+mn-lt"/>
              </a:rPr>
              <a:t>I am also thankful to my friends and family for their continuous encouragement and support during the completion of my internship and this report.</a:t>
            </a:r>
            <a:endParaRPr lang="en-US" sz="1800" dirty="0">
              <a:ea typeface="+mn-lt"/>
              <a:cs typeface="+mn-lt"/>
            </a:endParaRPr>
          </a:p>
          <a:p>
            <a:pPr marL="0" indent="0">
              <a:buNone/>
            </a:pPr>
            <a:r>
              <a:rPr lang="en-US" sz="1800" dirty="0">
                <a:ea typeface="+mn-lt"/>
                <a:cs typeface="+mn-lt"/>
              </a:rPr>
              <a:t>Finally, I am grateful to everyone who directly or indirectly contributed to making this internship a valuable learning experience.</a:t>
            </a:r>
            <a:endParaRPr lang="en-US" sz="1800" dirty="0">
              <a:ea typeface="+mn-lt"/>
              <a:cs typeface="+mn-lt"/>
            </a:endParaRPr>
          </a:p>
          <a:p>
            <a:pPr marL="0" indent="0">
              <a:buNone/>
            </a:pPr>
            <a:r>
              <a:rPr lang="en-US" sz="1800" dirty="0">
                <a:ea typeface="+mn-lt"/>
                <a:cs typeface="+mn-lt"/>
              </a:rPr>
              <a:t>Student Name: Ritika Singh</a:t>
            </a:r>
            <a:br>
              <a:rPr lang="en-US" sz="1800" dirty="0">
                <a:ea typeface="+mn-lt"/>
                <a:cs typeface="+mn-lt"/>
              </a:rPr>
            </a:br>
            <a:r>
              <a:rPr lang="en-US" sz="1800" dirty="0">
                <a:ea typeface="+mn-lt"/>
                <a:cs typeface="+mn-lt"/>
              </a:rPr>
              <a:t> Enrollment No.: 25SCS1003002329</a:t>
            </a:r>
            <a:br>
              <a:rPr lang="en-US" sz="1800" dirty="0">
                <a:ea typeface="+mn-lt"/>
                <a:cs typeface="+mn-lt"/>
              </a:rPr>
            </a:br>
            <a:r>
              <a:rPr lang="en-US" sz="1800" dirty="0">
                <a:ea typeface="+mn-lt"/>
                <a:cs typeface="+mn-lt"/>
              </a:rPr>
              <a:t> Program: </a:t>
            </a:r>
            <a:r>
              <a:rPr lang="en-US" sz="1800" dirty="0" err="1">
                <a:ea typeface="+mn-lt"/>
                <a:cs typeface="+mn-lt"/>
              </a:rPr>
              <a:t>B.Tech</a:t>
            </a:r>
            <a:r>
              <a:rPr lang="en-US" sz="1800" dirty="0">
                <a:ea typeface="+mn-lt"/>
                <a:cs typeface="+mn-lt"/>
              </a:rPr>
              <a:t> CSE</a:t>
            </a:r>
            <a:br>
              <a:rPr lang="en-US" sz="1800" dirty="0">
                <a:ea typeface="+mn-lt"/>
                <a:cs typeface="+mn-lt"/>
              </a:rPr>
            </a:br>
            <a:endParaRPr lang="en-US" sz="1800" dirty="0">
              <a:ea typeface="+mn-lt"/>
              <a:cs typeface="+mn-lt"/>
            </a:endParaRP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28557"/>
            <a:ext cx="10515600" cy="5948406"/>
          </a:xfrm>
        </p:spPr>
        <p:txBody>
          <a:bodyPr vert="horz" lIns="91440" tIns="45720" rIns="91440" bIns="45720" rtlCol="0" anchor="t">
            <a:normAutofit/>
          </a:bodyPr>
          <a:lstStyle/>
          <a:p>
            <a:pPr marL="0" indent="0">
              <a:buNone/>
            </a:pPr>
            <a:r>
              <a:rPr lang="en-US" dirty="0"/>
              <a:t>4.1 Introduction</a:t>
            </a:r>
            <a:endParaRPr lang="en-US" dirty="0"/>
          </a:p>
          <a:p>
            <a:pPr marL="0" indent="0">
              <a:buNone/>
            </a:pPr>
            <a:endParaRPr lang="en-US" dirty="0">
              <a:ea typeface="+mn-lt"/>
              <a:cs typeface="+mn-lt"/>
            </a:endParaRPr>
          </a:p>
          <a:p>
            <a:pPr marL="0" indent="0">
              <a:buNone/>
            </a:pPr>
            <a:r>
              <a:rPr lang="en-US" sz="1800" dirty="0">
                <a:ea typeface="+mn-lt"/>
                <a:cs typeface="+mn-lt"/>
              </a:rPr>
              <a:t>The internship provided an opportunity to gain practical exposure to the field of technology and software development and to apply the concepts learned during the </a:t>
            </a:r>
            <a:r>
              <a:rPr lang="en-US" sz="1800" dirty="0" err="1">
                <a:ea typeface="+mn-lt"/>
                <a:cs typeface="+mn-lt"/>
              </a:rPr>
              <a:t>B.Tech</a:t>
            </a:r>
            <a:r>
              <a:rPr lang="en-US" sz="1800" dirty="0">
                <a:ea typeface="+mn-lt"/>
                <a:cs typeface="+mn-lt"/>
              </a:rPr>
              <a:t> Computer Science and Engineering program in a practical environment. The internship focused on developing technical skills through hands-on work with different programming and web development technologies.</a:t>
            </a:r>
            <a:endParaRPr lang="en-US" sz="1800"/>
          </a:p>
          <a:p>
            <a:pPr marL="0" indent="0">
              <a:buNone/>
            </a:pPr>
            <a:r>
              <a:rPr lang="en-US" sz="1800" dirty="0">
                <a:ea typeface="+mn-lt"/>
                <a:cs typeface="+mn-lt"/>
              </a:rPr>
              <a:t>During the internship, I worked on various projects involving web development, programming, user interface design, and technology-based solutions. The work involved understanding project requirements, planning the implementation, developing functional components, testing the projects, and making necessary improvements.</a:t>
            </a:r>
            <a:endParaRPr lang="en-US" sz="1800"/>
          </a:p>
          <a:p>
            <a:pPr marL="0" indent="0">
              <a:buNone/>
            </a:pPr>
            <a:r>
              <a:rPr lang="en-US" sz="1800" dirty="0">
                <a:ea typeface="+mn-lt"/>
                <a:cs typeface="+mn-lt"/>
              </a:rPr>
              <a:t>The internship helped bridge the gap between theoretical knowledge and practical application by providing experience in developing projects from an initial idea to a functional implementation. It also helped improve problem-solving, programming, creativity, and understanding of the software development process.</a:t>
            </a:r>
            <a:endParaRPr lang="en-US" sz="1800"/>
          </a:p>
          <a:p>
            <a:pPr marL="0" indent="0">
              <a:buNone/>
            </a:pPr>
            <a:r>
              <a:rPr lang="en-US" sz="1800" dirty="0">
                <a:ea typeface="+mn-lt"/>
                <a:cs typeface="+mn-lt"/>
              </a:rPr>
              <a:t>The following sections describe the organization, problem statement, objectives, scope, technologies used, workflow, methodology, projects developed, outcomes, and learning gained during the internship.</a:t>
            </a:r>
            <a:endParaRPr lang="en-US" sz="1800"/>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80749"/>
            <a:ext cx="10515600" cy="5896214"/>
          </a:xfrm>
        </p:spPr>
        <p:txBody>
          <a:bodyPr vert="horz" lIns="91440" tIns="45720" rIns="91440" bIns="45720" rtlCol="0" anchor="t">
            <a:normAutofit/>
          </a:bodyPr>
          <a:lstStyle/>
          <a:p>
            <a:pPr marL="0" indent="0">
              <a:buNone/>
            </a:pPr>
            <a:r>
              <a:rPr lang="en-US" dirty="0"/>
              <a:t>4.2 Organization Profile</a:t>
            </a:r>
            <a:endParaRPr lang="en-US" dirty="0"/>
          </a:p>
          <a:p>
            <a:pPr marL="0" indent="0">
              <a:buNone/>
            </a:pPr>
            <a:endParaRPr lang="en-US" dirty="0">
              <a:ea typeface="+mn-lt"/>
              <a:cs typeface="+mn-lt"/>
            </a:endParaRPr>
          </a:p>
          <a:p>
            <a:pPr marL="0" indent="0">
              <a:buNone/>
            </a:pPr>
            <a:r>
              <a:rPr lang="en-US" sz="1800" dirty="0" err="1">
                <a:ea typeface="+mn-lt"/>
                <a:cs typeface="+mn-lt"/>
              </a:rPr>
              <a:t>CodSoft</a:t>
            </a:r>
            <a:r>
              <a:rPr lang="en-US" sz="1800" dirty="0">
                <a:ea typeface="+mn-lt"/>
                <a:cs typeface="+mn-lt"/>
              </a:rPr>
              <a:t> is a technology education and software development platform focused on helping students and aspiring developers gain practical technical skills. The organization aims to bridge the gap between academic learning and industry requirements by providing project-based learning, virtual internships, career resources, and practical development opportunities. </a:t>
            </a:r>
            <a:endParaRPr lang="en-US" sz="1800" dirty="0"/>
          </a:p>
          <a:p>
            <a:pPr marL="0" indent="0">
              <a:buNone/>
            </a:pPr>
            <a:r>
              <a:rPr lang="en-US" sz="1800" dirty="0" err="1">
                <a:ea typeface="+mn-lt"/>
                <a:cs typeface="+mn-lt"/>
              </a:rPr>
              <a:t>CodSoft</a:t>
            </a:r>
            <a:r>
              <a:rPr lang="en-US" sz="1800" dirty="0">
                <a:ea typeface="+mn-lt"/>
                <a:cs typeface="+mn-lt"/>
              </a:rPr>
              <a:t> provides internship programs across multiple technology domains, including Web Development, Java Programming, Python Programming, Artificial Intelligence, Machine Learning, Data Science, UI/UX Design, and other emerging technologies. Its internship programs emphasize hands-on projects and practical assignments that allow learners to apply their technical knowledge in real project scenarios. </a:t>
            </a:r>
            <a:endParaRPr lang="en-US" sz="1800" dirty="0"/>
          </a:p>
          <a:p>
            <a:pPr marL="0" indent="0">
              <a:buNone/>
            </a:pPr>
            <a:r>
              <a:rPr lang="en-US" sz="1800" dirty="0">
                <a:ea typeface="+mn-lt"/>
                <a:cs typeface="+mn-lt"/>
              </a:rPr>
              <a:t>The internship journey at </a:t>
            </a:r>
            <a:r>
              <a:rPr lang="en-US" sz="1800" dirty="0" err="1">
                <a:ea typeface="+mn-lt"/>
                <a:cs typeface="+mn-lt"/>
              </a:rPr>
              <a:t>CodSoft</a:t>
            </a:r>
            <a:r>
              <a:rPr lang="en-US" sz="1800" dirty="0">
                <a:ea typeface="+mn-lt"/>
                <a:cs typeface="+mn-lt"/>
              </a:rPr>
              <a:t> includes activities such as receiving project tasks, developing the required projects, submitting the completed work, and undergoing evaluation before certification. This project-oriented approach provides students with an opportunity to strengthen their programming skills, problem-solving abilities, and understanding of software development practices. </a:t>
            </a:r>
            <a:endParaRPr lang="en-US" sz="1800" dirty="0"/>
          </a:p>
          <a:p>
            <a:pPr marL="0" indent="0">
              <a:buNone/>
            </a:pPr>
            <a:r>
              <a:rPr lang="en-US" sz="1800" dirty="0" err="1">
                <a:ea typeface="+mn-lt"/>
                <a:cs typeface="+mn-lt"/>
              </a:rPr>
              <a:t>CodSoft</a:t>
            </a:r>
            <a:r>
              <a:rPr lang="en-US" sz="1800" dirty="0">
                <a:ea typeface="+mn-lt"/>
                <a:cs typeface="+mn-lt"/>
              </a:rPr>
              <a:t> is headquartered in Kolkata, West Bengal, and operates its internship programs virtually, allowing students to participate remotely</a:t>
            </a:r>
            <a:endParaRPr lang="en-US" sz="1800" dirty="0"/>
          </a:p>
          <a:p>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52146"/>
            <a:ext cx="10515600" cy="5624817"/>
          </a:xfrm>
        </p:spPr>
        <p:txBody>
          <a:bodyPr vert="horz" lIns="91440" tIns="45720" rIns="91440" bIns="45720" rtlCol="0" anchor="t">
            <a:normAutofit/>
          </a:bodyPr>
          <a:lstStyle/>
          <a:p>
            <a:pPr marL="0" indent="0">
              <a:buNone/>
            </a:pPr>
            <a:r>
              <a:rPr lang="en-US" dirty="0"/>
              <a:t>4.3 Problem Statement</a:t>
            </a:r>
            <a:endParaRPr lang="en-US" dirty="0"/>
          </a:p>
          <a:p>
            <a:pPr marL="0" indent="0">
              <a:buNone/>
            </a:pPr>
            <a:endParaRPr lang="en-US" dirty="0">
              <a:ea typeface="+mn-lt"/>
              <a:cs typeface="+mn-lt"/>
            </a:endParaRPr>
          </a:p>
          <a:p>
            <a:pPr marL="0" indent="0">
              <a:buNone/>
            </a:pPr>
            <a:r>
              <a:rPr lang="en-US" sz="1800" dirty="0">
                <a:ea typeface="+mn-lt"/>
                <a:cs typeface="+mn-lt"/>
              </a:rPr>
              <a:t>The main challenge addressed during the internship was to gain practical experience in software development by converting theoretical programming concepts into functional, user-oriented projects. As a student, understanding programming concepts in an academic environment is different from applying them while developing complete projects.</a:t>
            </a:r>
            <a:endParaRPr lang="en-US" sz="1800" dirty="0"/>
          </a:p>
          <a:p>
            <a:pPr marL="0" indent="0">
              <a:buNone/>
            </a:pPr>
            <a:r>
              <a:rPr lang="en-US" sz="1800" dirty="0">
                <a:ea typeface="+mn-lt"/>
                <a:cs typeface="+mn-lt"/>
              </a:rPr>
              <a:t>During the internship at </a:t>
            </a:r>
            <a:r>
              <a:rPr lang="en-US" sz="1800" dirty="0" err="1">
                <a:ea typeface="+mn-lt"/>
                <a:cs typeface="+mn-lt"/>
              </a:rPr>
              <a:t>CodSoft</a:t>
            </a:r>
            <a:r>
              <a:rPr lang="en-US" sz="1800" dirty="0">
                <a:ea typeface="+mn-lt"/>
                <a:cs typeface="+mn-lt"/>
              </a:rPr>
              <a:t>, the focus was on understanding project requirements, selecting suitable technologies, designing and implementing project features, testing the developed applications, and improving them based on the requirements.</a:t>
            </a:r>
            <a:endParaRPr lang="en-US" sz="1800" dirty="0"/>
          </a:p>
          <a:p>
            <a:pPr marL="0" indent="0">
              <a:buNone/>
            </a:pPr>
            <a:r>
              <a:rPr lang="en-US" sz="1800" dirty="0">
                <a:ea typeface="+mn-lt"/>
                <a:cs typeface="+mn-lt"/>
              </a:rPr>
              <a:t>The problem therefore involved developing practical software projects that are functional, organized, user-friendly, and aligned with the given requirements, while simultaneously strengthening programming, web development, problem-solving, and project implementation skills.</a:t>
            </a:r>
            <a:endParaRPr lang="en-US" sz="1800" dirty="0"/>
          </a:p>
          <a:p>
            <a:pPr marL="0" indent="0">
              <a:buNone/>
            </a:pPr>
            <a:r>
              <a:rPr lang="en-US" sz="1800" dirty="0">
                <a:ea typeface="+mn-lt"/>
                <a:cs typeface="+mn-lt"/>
              </a:rPr>
              <a:t>The internship provided an opportunity to understand the different stages of project development, from requirement understanding and planning to implementation, testing, and final submission.</a:t>
            </a:r>
            <a:endParaRPr lang="en-US" sz="1800" dirty="0"/>
          </a:p>
          <a:p>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7681"/>
            <a:ext cx="10515600" cy="5969282"/>
          </a:xfrm>
        </p:spPr>
        <p:txBody>
          <a:bodyPr vert="horz" lIns="91440" tIns="45720" rIns="91440" bIns="45720" rtlCol="0" anchor="t">
            <a:normAutofit/>
          </a:bodyPr>
          <a:lstStyle/>
          <a:p>
            <a:pPr marL="0" indent="0">
              <a:buNone/>
            </a:pPr>
            <a:r>
              <a:rPr lang="en-US" dirty="0"/>
              <a:t>4.4 Project Objectives</a:t>
            </a:r>
            <a:endParaRPr lang="en-US"/>
          </a:p>
          <a:p>
            <a:pPr marL="0" indent="0">
              <a:buNone/>
            </a:pPr>
            <a:endParaRPr lang="en-US" dirty="0">
              <a:ea typeface="+mn-lt"/>
              <a:cs typeface="+mn-lt"/>
            </a:endParaRPr>
          </a:p>
          <a:p>
            <a:pPr marL="0" indent="0">
              <a:buNone/>
            </a:pPr>
            <a:r>
              <a:rPr lang="en-US" sz="1800" dirty="0">
                <a:ea typeface="+mn-lt"/>
                <a:cs typeface="+mn-lt"/>
              </a:rPr>
              <a:t>The main objectives of the internship were:</a:t>
            </a:r>
            <a:endParaRPr lang="en-US" sz="1800"/>
          </a:p>
          <a:p>
            <a:pPr marL="0" indent="0">
              <a:buNone/>
            </a:pPr>
            <a:r>
              <a:rPr lang="en-US" sz="1800" dirty="0">
                <a:ea typeface="+mn-lt"/>
                <a:cs typeface="+mn-lt"/>
              </a:rPr>
              <a:t>To gain practical experience in software and web development through hands-on project work. </a:t>
            </a:r>
            <a:endParaRPr lang="en-US" sz="1800"/>
          </a:p>
          <a:p>
            <a:pPr marL="0" indent="0">
              <a:buNone/>
            </a:pPr>
            <a:r>
              <a:rPr lang="en-US" sz="1800" dirty="0">
                <a:ea typeface="+mn-lt"/>
                <a:cs typeface="+mn-lt"/>
              </a:rPr>
              <a:t>To apply programming and development concepts learned during the </a:t>
            </a:r>
            <a:r>
              <a:rPr lang="en-US" sz="1800" dirty="0" err="1">
                <a:ea typeface="+mn-lt"/>
                <a:cs typeface="+mn-lt"/>
              </a:rPr>
              <a:t>B.Tech</a:t>
            </a:r>
            <a:r>
              <a:rPr lang="en-US" sz="1800" dirty="0">
                <a:ea typeface="+mn-lt"/>
                <a:cs typeface="+mn-lt"/>
              </a:rPr>
              <a:t> Computer Science and Engineering program.</a:t>
            </a:r>
            <a:endParaRPr lang="en-US" sz="1800" dirty="0"/>
          </a:p>
          <a:p>
            <a:pPr marL="0" indent="0">
              <a:buNone/>
            </a:pPr>
            <a:r>
              <a:rPr lang="en-US" sz="1800" dirty="0">
                <a:ea typeface="+mn-lt"/>
                <a:cs typeface="+mn-lt"/>
              </a:rPr>
              <a:t>To develop functional and user-friendly projects according to the given requirements. </a:t>
            </a:r>
            <a:endParaRPr lang="en-US" sz="1800" dirty="0"/>
          </a:p>
          <a:p>
            <a:pPr marL="0" indent="0">
              <a:buNone/>
            </a:pPr>
            <a:r>
              <a:rPr lang="en-US" sz="1800" dirty="0">
                <a:ea typeface="+mn-lt"/>
                <a:cs typeface="+mn-lt"/>
              </a:rPr>
              <a:t>To improve understanding of HTML, CSS, Java, JavaScript, and related development concepts. </a:t>
            </a:r>
            <a:endParaRPr lang="en-US" sz="1800"/>
          </a:p>
          <a:p>
            <a:pPr marL="0" indent="0">
              <a:buNone/>
            </a:pPr>
            <a:r>
              <a:rPr lang="en-US" sz="1800" dirty="0">
                <a:ea typeface="+mn-lt"/>
                <a:cs typeface="+mn-lt"/>
              </a:rPr>
              <a:t>To strengthen problem-solving and logical thinking skills through practical implementation. </a:t>
            </a:r>
            <a:endParaRPr lang="en-US" sz="1800" dirty="0"/>
          </a:p>
          <a:p>
            <a:pPr marL="0" indent="0">
              <a:buNone/>
            </a:pPr>
            <a:r>
              <a:rPr lang="en-US" sz="1800" dirty="0">
                <a:ea typeface="+mn-lt"/>
                <a:cs typeface="+mn-lt"/>
              </a:rPr>
              <a:t>To understand the different stages of the software development process, including planning, implementation, testing, and improvement. </a:t>
            </a:r>
            <a:endParaRPr lang="en-US" sz="1800"/>
          </a:p>
          <a:p>
            <a:pPr marL="0" indent="0">
              <a:buNone/>
            </a:pPr>
            <a:r>
              <a:rPr lang="en-US" sz="1800" dirty="0">
                <a:ea typeface="+mn-lt"/>
                <a:cs typeface="+mn-lt"/>
              </a:rPr>
              <a:t>To gain experience in developing projects that can be used for practical and real-world applications. </a:t>
            </a:r>
            <a:endParaRPr lang="en-US" sz="1800"/>
          </a:p>
          <a:p>
            <a:pPr marL="0" indent="0">
              <a:buNone/>
            </a:pPr>
            <a:r>
              <a:rPr lang="en-US" sz="1800" dirty="0">
                <a:ea typeface="+mn-lt"/>
                <a:cs typeface="+mn-lt"/>
              </a:rPr>
              <a:t>To improve technical confidence and develop a better understanding of professional project development practices.</a:t>
            </a:r>
            <a:endParaRPr lang="en-US" sz="180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838200" y="280751"/>
            <a:ext cx="10515600" cy="6564265"/>
          </a:xfrm>
        </p:spPr>
        <p:txBody>
          <a:bodyPr vert="horz" lIns="91440" tIns="45720" rIns="91440" bIns="45720" rtlCol="0" anchor="t">
            <a:normAutofit/>
          </a:bodyPr>
          <a:lstStyle/>
          <a:p>
            <a:pPr marL="0" indent="0">
              <a:buNone/>
            </a:pPr>
            <a:r>
              <a:rPr lang="en-US"/>
              <a:t>4.5 Scope of the Project</a:t>
            </a:r>
            <a:endParaRPr lang="en-US"/>
          </a:p>
          <a:p>
            <a:pPr marL="0" indent="0">
              <a:buNone/>
            </a:pPr>
            <a:endParaRPr lang="en-US" dirty="0">
              <a:ea typeface="+mn-lt"/>
              <a:cs typeface="+mn-lt"/>
            </a:endParaRPr>
          </a:p>
          <a:p>
            <a:pPr marL="0" indent="0">
              <a:buNone/>
            </a:pPr>
            <a:r>
              <a:rPr lang="en-US" sz="1800">
                <a:ea typeface="+mn-lt"/>
                <a:cs typeface="+mn-lt"/>
              </a:rPr>
              <a:t>The scope of the internship covered the practical application of software development and programming concepts through the development of multiple projects. The work focused on understanding requirements, designing interfaces, implementing functionality, testing applications, and improving the developed projects.</a:t>
            </a:r>
            <a:endParaRPr lang="en-US" sz="1800"/>
          </a:p>
          <a:p>
            <a:pPr marL="0" indent="0">
              <a:buNone/>
            </a:pPr>
            <a:r>
              <a:rPr lang="en-US" sz="1800">
                <a:ea typeface="+mn-lt"/>
                <a:cs typeface="+mn-lt"/>
              </a:rPr>
              <a:t>The major areas covered during the internship included:</a:t>
            </a:r>
            <a:endParaRPr lang="en-US" sz="1800"/>
          </a:p>
          <a:p>
            <a:pPr marL="0" indent="0">
              <a:buNone/>
            </a:pPr>
            <a:r>
              <a:rPr lang="en-US" sz="1800">
                <a:ea typeface="+mn-lt"/>
                <a:cs typeface="+mn-lt"/>
              </a:rPr>
              <a:t>Development of web-based applications and interfaces. </a:t>
            </a:r>
            <a:endParaRPr lang="en-US" sz="1800"/>
          </a:p>
          <a:p>
            <a:pPr marL="0" indent="0">
              <a:buNone/>
            </a:pPr>
            <a:r>
              <a:rPr lang="en-US" sz="1800">
                <a:ea typeface="+mn-lt"/>
                <a:cs typeface="+mn-lt"/>
              </a:rPr>
              <a:t>Application of HTML and CSS for creating structured and visually organized web pages. </a:t>
            </a:r>
            <a:endParaRPr lang="en-US" sz="1800"/>
          </a:p>
          <a:p>
            <a:pPr marL="0" indent="0">
              <a:buNone/>
            </a:pPr>
            <a:r>
              <a:rPr lang="en-US" sz="1800">
                <a:ea typeface="+mn-lt"/>
                <a:cs typeface="+mn-lt"/>
              </a:rPr>
              <a:t>Application of Java and JavaScript concepts in programming and project development. </a:t>
            </a:r>
            <a:endParaRPr lang="en-US" sz="1800"/>
          </a:p>
          <a:p>
            <a:pPr marL="0" indent="0">
              <a:buNone/>
            </a:pPr>
            <a:r>
              <a:rPr lang="en-US" sz="1800">
                <a:ea typeface="+mn-lt"/>
                <a:cs typeface="+mn-lt"/>
              </a:rPr>
              <a:t>Development of projects with a focus on functionality, usability, and user interaction. </a:t>
            </a:r>
            <a:endParaRPr lang="en-US" sz="1800"/>
          </a:p>
          <a:p>
            <a:pPr marL="0" indent="0">
              <a:buNone/>
            </a:pPr>
            <a:r>
              <a:rPr lang="en-US" sz="1800">
                <a:ea typeface="+mn-lt"/>
                <a:cs typeface="+mn-lt"/>
              </a:rPr>
              <a:t>Testing and debugging the developed projects to identify and resolve issues. </a:t>
            </a:r>
            <a:endParaRPr lang="en-US" sz="1800"/>
          </a:p>
          <a:p>
            <a:pPr marL="0" indent="0">
              <a:buNone/>
            </a:pPr>
            <a:r>
              <a:rPr lang="en-US" sz="1800">
                <a:ea typeface="+mn-lt"/>
                <a:cs typeface="+mn-lt"/>
              </a:rPr>
              <a:t>Improving technical and problem-solving skills through hands-on project implementation. </a:t>
            </a:r>
            <a:endParaRPr lang="en-US" sz="1800"/>
          </a:p>
          <a:p>
            <a:pPr marL="0" indent="0">
              <a:buNone/>
            </a:pPr>
            <a:r>
              <a:rPr lang="en-US" sz="1800">
                <a:ea typeface="+mn-lt"/>
                <a:cs typeface="+mn-lt"/>
              </a:rPr>
              <a:t>Understanding the overall process of converting a project requirement into a working application. </a:t>
            </a:r>
            <a:endParaRPr lang="en-US" sz="1800"/>
          </a:p>
          <a:p>
            <a:pPr marL="0" indent="0">
              <a:buNone/>
            </a:pPr>
            <a:r>
              <a:rPr lang="en-US" sz="1800">
                <a:ea typeface="+mn-lt"/>
                <a:cs typeface="+mn-lt"/>
              </a:rPr>
              <a:t>The scope was primarily focused on learning and practical project development and did not extend to large-scale commercial deployment, enterprise-level infrastructure, or advanced production systems.</a:t>
            </a:r>
            <a:endParaRPr lang="en-US" sz="1800"/>
          </a:p>
          <a:p>
            <a:pPr marL="0" indent="0">
              <a:buNone/>
            </a:pPr>
            <a:br>
              <a:rPr lang="en-US" dirty="0"/>
            </a:br>
            <a:endParaRPr lang="en-US" sz="180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18119"/>
            <a:ext cx="10515600" cy="6146734"/>
          </a:xfrm>
        </p:spPr>
        <p:txBody>
          <a:bodyPr vert="horz" lIns="91440" tIns="45720" rIns="91440" bIns="45720" rtlCol="0" anchor="t">
            <a:normAutofit/>
          </a:bodyPr>
          <a:lstStyle/>
          <a:p>
            <a:pPr marL="0" indent="0">
              <a:buNone/>
            </a:pPr>
            <a:r>
              <a:rPr lang="en-US"/>
              <a:t>4.6 Technologies and Tools Used</a:t>
            </a:r>
            <a:endParaRPr lang="en-US"/>
          </a:p>
          <a:p>
            <a:pPr marL="0" indent="0">
              <a:buNone/>
            </a:pPr>
            <a:endParaRPr lang="en-US" dirty="0">
              <a:ea typeface="+mn-lt"/>
              <a:cs typeface="+mn-lt"/>
            </a:endParaRPr>
          </a:p>
          <a:p>
            <a:pPr marL="0" indent="0">
              <a:buNone/>
            </a:pPr>
            <a:r>
              <a:rPr lang="en-US" sz="1800">
                <a:ea typeface="+mn-lt"/>
                <a:cs typeface="+mn-lt"/>
              </a:rPr>
              <a:t>The internship involved the use of various programming and web development technologies to design, develop, and test the projects.</a:t>
            </a:r>
            <a:endParaRPr lang="en-US" sz="1800" dirty="0"/>
          </a:p>
          <a:p>
            <a:pPr marL="0" indent="0">
              <a:buNone/>
            </a:pPr>
            <a:r>
              <a:rPr lang="en-US" sz="1800">
                <a:ea typeface="+mn-lt"/>
                <a:cs typeface="+mn-lt"/>
              </a:rPr>
              <a:t>HTML — Used to create the basic structure and content of web pages. </a:t>
            </a:r>
            <a:endParaRPr lang="en-US" sz="1800" dirty="0"/>
          </a:p>
          <a:p>
            <a:pPr marL="0" indent="0">
              <a:buNone/>
            </a:pPr>
            <a:r>
              <a:rPr lang="en-US" sz="1800">
                <a:ea typeface="+mn-lt"/>
                <a:cs typeface="+mn-lt"/>
              </a:rPr>
              <a:t>CSS — Used for styling, layouts, spacing, colours, and overall visual appearance. </a:t>
            </a:r>
            <a:endParaRPr lang="en-US" sz="1800" dirty="0"/>
          </a:p>
          <a:p>
            <a:pPr marL="0" indent="0">
              <a:buNone/>
            </a:pPr>
            <a:r>
              <a:rPr lang="en-US" sz="1800">
                <a:ea typeface="+mn-lt"/>
                <a:cs typeface="+mn-lt"/>
              </a:rPr>
              <a:t>Java — Used for programming practice and developing programming-based solutions. </a:t>
            </a:r>
            <a:endParaRPr lang="en-US" sz="1800" dirty="0"/>
          </a:p>
          <a:p>
            <a:pPr marL="0" indent="0">
              <a:buNone/>
            </a:pPr>
            <a:r>
              <a:rPr lang="en-US" sz="1800">
                <a:ea typeface="+mn-lt"/>
                <a:cs typeface="+mn-lt"/>
              </a:rPr>
              <a:t>JavaScript — Used to add interactivity and dynamic functionality to web-based projects. </a:t>
            </a:r>
            <a:endParaRPr lang="en-US" sz="1800" dirty="0"/>
          </a:p>
          <a:p>
            <a:pPr marL="0" indent="0">
              <a:buNone/>
            </a:pPr>
            <a:r>
              <a:rPr lang="en-US" sz="1800">
                <a:ea typeface="+mn-lt"/>
                <a:cs typeface="+mn-lt"/>
              </a:rPr>
              <a:t>Visual Studio Code — Used as the primary development environment for writing and managing project files. </a:t>
            </a:r>
            <a:endParaRPr lang="en-US" sz="1800" dirty="0"/>
          </a:p>
          <a:p>
            <a:pPr marL="0" indent="0">
              <a:buNone/>
            </a:pPr>
            <a:r>
              <a:rPr lang="en-US" sz="1800">
                <a:ea typeface="+mn-lt"/>
                <a:cs typeface="+mn-lt"/>
              </a:rPr>
              <a:t>Web Browser — Used to run, test, and verify the functionality and appearance of web projects. </a:t>
            </a:r>
            <a:endParaRPr lang="en-US" sz="1800" dirty="0"/>
          </a:p>
          <a:p>
            <a:pPr marL="0" indent="0">
              <a:buNone/>
            </a:pPr>
            <a:r>
              <a:rPr lang="en-US" sz="1800">
                <a:ea typeface="+mn-lt"/>
                <a:cs typeface="+mn-lt"/>
              </a:rPr>
              <a:t>GitHub — Used for managing and maintaining project code where required. </a:t>
            </a:r>
            <a:endParaRPr lang="en-US" sz="1800" dirty="0"/>
          </a:p>
          <a:p>
            <a:pPr marL="0" indent="0">
              <a:buNone/>
            </a:pPr>
            <a:r>
              <a:rPr lang="en-US" sz="1800">
                <a:ea typeface="+mn-lt"/>
                <a:cs typeface="+mn-lt"/>
              </a:rPr>
              <a:t>These technologies provided practical exposure to different stages of development, from writing code and designing interfaces to testing and refining the final projects.</a:t>
            </a:r>
            <a:endParaRPr lang="en-US" sz="1800" dirty="0"/>
          </a:p>
          <a:p>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65927"/>
            <a:ext cx="10515600" cy="6011036"/>
          </a:xfrm>
        </p:spPr>
        <p:txBody>
          <a:bodyPr vert="horz" lIns="91440" tIns="45720" rIns="91440" bIns="45720" rtlCol="0" anchor="t">
            <a:normAutofit lnSpcReduction="10000"/>
          </a:bodyPr>
          <a:lstStyle/>
          <a:p>
            <a:pPr marL="0" indent="0">
              <a:buNone/>
            </a:pPr>
            <a:r>
              <a:rPr lang="en-US" sz="2400"/>
              <a:t>4.7 System / Project Workflow</a:t>
            </a:r>
            <a:endParaRPr lang="en-US"/>
          </a:p>
          <a:p>
            <a:endParaRPr lang="en-US" sz="2400" dirty="0"/>
          </a:p>
          <a:p>
            <a:pPr marL="0" indent="0">
              <a:buNone/>
            </a:pPr>
            <a:r>
              <a:rPr lang="en-US" sz="1500"/>
              <a:t>The projects developed during the internship followed a structured development workflow. The process helped in understanding the requirements, planning the solution, implementing the required features, and testing the final projects.</a:t>
            </a:r>
            <a:endParaRPr lang="en-US" sz="1500"/>
          </a:p>
          <a:p>
            <a:pPr marL="0" indent="0">
              <a:buNone/>
            </a:pPr>
            <a:r>
              <a:rPr lang="en-US" sz="1500"/>
              <a:t>The general workflow followed was:</a:t>
            </a:r>
            <a:endParaRPr lang="en-US" sz="1500"/>
          </a:p>
          <a:p>
            <a:pPr marL="0" indent="0">
              <a:buNone/>
            </a:pPr>
            <a:r>
              <a:rPr lang="en-US" sz="1500"/>
              <a:t>1. Requirement Understanding</a:t>
            </a:r>
            <a:br>
              <a:rPr lang="en-US" sz="1500" dirty="0"/>
            </a:br>
            <a:r>
              <a:rPr lang="en-US" sz="1500"/>
              <a:t> The project requirements and expected functionality were first studied and understood.</a:t>
            </a:r>
            <a:endParaRPr lang="en-US" sz="1500"/>
          </a:p>
          <a:p>
            <a:pPr marL="0" indent="0">
              <a:buNone/>
            </a:pPr>
            <a:r>
              <a:rPr lang="en-US" sz="1500"/>
              <a:t>2. Planning and Designing</a:t>
            </a:r>
            <a:br>
              <a:rPr lang="en-US" sz="1500" dirty="0"/>
            </a:br>
            <a:r>
              <a:rPr lang="en-US" sz="1500"/>
              <a:t> The structure, features, user interface, and overall approach for the project were planned before implementation.</a:t>
            </a:r>
            <a:endParaRPr lang="en-US" sz="1500"/>
          </a:p>
          <a:p>
            <a:pPr marL="0" indent="0">
              <a:buNone/>
            </a:pPr>
            <a:r>
              <a:rPr lang="en-US" sz="1500"/>
              <a:t>3. Development</a:t>
            </a:r>
            <a:br>
              <a:rPr lang="en-US" sz="1500" dirty="0"/>
            </a:br>
            <a:r>
              <a:rPr lang="en-US" sz="1500"/>
              <a:t> The required code was written using appropriate technologies such as HTML, CSS, Java, and JavaScript.</a:t>
            </a:r>
            <a:endParaRPr lang="en-US" sz="1500"/>
          </a:p>
          <a:p>
            <a:pPr marL="0" indent="0">
              <a:buNone/>
            </a:pPr>
            <a:r>
              <a:rPr lang="en-US" sz="1500"/>
              <a:t>4. Implementation of Features</a:t>
            </a:r>
            <a:br>
              <a:rPr lang="en-US" sz="1500" dirty="0"/>
            </a:br>
            <a:r>
              <a:rPr lang="en-US" sz="1500"/>
              <a:t> The planned functionality was implemented and the different components of the project were integrated.</a:t>
            </a:r>
            <a:endParaRPr lang="en-US" sz="1500"/>
          </a:p>
          <a:p>
            <a:pPr marL="0" indent="0">
              <a:buNone/>
            </a:pPr>
            <a:r>
              <a:rPr lang="en-US" sz="1500"/>
              <a:t>5. Testing and Debugging</a:t>
            </a:r>
            <a:br>
              <a:rPr lang="en-US" sz="1500" dirty="0"/>
            </a:br>
            <a:r>
              <a:rPr lang="en-US" sz="1500"/>
              <a:t> The projects were tested to identify errors, incorrect behaviour, and design issues. Necessary corrections were made during this stage.</a:t>
            </a:r>
            <a:endParaRPr lang="en-US" sz="1500"/>
          </a:p>
          <a:p>
            <a:pPr marL="0" indent="0">
              <a:buNone/>
            </a:pPr>
            <a:r>
              <a:rPr lang="en-US" sz="1500"/>
              <a:t>6. Refinement</a:t>
            </a:r>
            <a:br>
              <a:rPr lang="en-US" sz="1500" dirty="0"/>
            </a:br>
            <a:r>
              <a:rPr lang="en-US" sz="1500"/>
              <a:t> The projects were improved by making changes to functionality, layout, usability, and overall presentation.</a:t>
            </a:r>
            <a:endParaRPr lang="en-US" sz="1500"/>
          </a:p>
          <a:p>
            <a:pPr marL="0" indent="0">
              <a:buNone/>
            </a:pPr>
            <a:r>
              <a:rPr lang="en-US" sz="1500"/>
              <a:t>7. Final Review and Submission</a:t>
            </a:r>
            <a:br>
              <a:rPr lang="en-US" sz="1500" dirty="0"/>
            </a:br>
            <a:r>
              <a:rPr lang="en-US" sz="1500"/>
              <a:t> After completing the required features and testing the projects, the final work was reviewed and prepared for submission.</a:t>
            </a:r>
            <a:endParaRPr lang="en-US" sz="1500"/>
          </a:p>
          <a:p>
            <a:pPr marL="0" indent="0">
              <a:buNone/>
            </a:pPr>
            <a:r>
              <a:rPr lang="en-US" sz="1500"/>
              <a:t>Workflow:</a:t>
            </a:r>
            <a:br>
              <a:rPr lang="en-US" sz="1500" dirty="0"/>
            </a:br>
            <a:r>
              <a:rPr lang="en-US" sz="1500"/>
              <a:t> Requirements → Planning → Design → Development → Testing → Refinement → Final Submission</a:t>
            </a:r>
            <a:endParaRPr lang="en-US" sz="1500"/>
          </a:p>
          <a:p>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07681"/>
            <a:ext cx="10515600" cy="6439008"/>
          </a:xfrm>
        </p:spPr>
        <p:txBody>
          <a:bodyPr vert="horz" lIns="91440" tIns="45720" rIns="91440" bIns="45720" rtlCol="0" anchor="t">
            <a:normAutofit/>
          </a:bodyPr>
          <a:lstStyle/>
          <a:p>
            <a:pPr>
              <a:buNone/>
            </a:pPr>
            <a:r>
              <a:rPr lang="en-US"/>
              <a:t>4.9 Projects Developed</a:t>
            </a:r>
            <a:endParaRPr lang="en-US"/>
          </a:p>
          <a:p>
            <a:pPr>
              <a:buNone/>
            </a:pPr>
            <a:r>
              <a:rPr lang="en-US" sz="1800">
                <a:ea typeface="+mn-lt"/>
                <a:cs typeface="+mn-lt"/>
              </a:rPr>
              <a:t>   During the internship at CodSoft, practical project work was carried out to apply programming and web development concepts. The projects focused on developing functional applications while improving technical knowledge, problem-solving abilities, and understanding of the development process.</a:t>
            </a:r>
            <a:endParaRPr lang="en-US" sz="1800"/>
          </a:p>
          <a:p>
            <a:pPr>
              <a:buNone/>
            </a:pPr>
            <a:r>
              <a:rPr lang="en-US" sz="1800" b="1"/>
              <a:t>1. Personal Portfolio Website</a:t>
            </a:r>
            <a:endParaRPr lang="en-US" sz="1800" b="1"/>
          </a:p>
          <a:p>
            <a:pPr>
              <a:buNone/>
            </a:pPr>
            <a:r>
              <a:rPr lang="en-US" sz="1800">
                <a:ea typeface="+mn-lt"/>
                <a:cs typeface="+mn-lt"/>
              </a:rPr>
              <a:t>    A personal portfolio website was developed to present personal information, education, technical skills, projects, and contact details in a structured and professional format. The project focused on creating a clean and responsive user interface using web development technologies.</a:t>
            </a:r>
            <a:endParaRPr lang="en-US" sz="1800"/>
          </a:p>
          <a:p>
            <a:pPr>
              <a:buNone/>
            </a:pPr>
            <a:r>
              <a:rPr lang="en-US" sz="1800" b="1"/>
              <a:t>2. AI Code Review</a:t>
            </a:r>
            <a:endParaRPr lang="en-US" sz="1800" b="1"/>
          </a:p>
          <a:p>
            <a:pPr>
              <a:buNone/>
            </a:pPr>
            <a:r>
              <a:rPr lang="en-US" sz="1800">
                <a:ea typeface="+mn-lt"/>
                <a:cs typeface="+mn-lt"/>
              </a:rPr>
              <a:t>      An AI Code Review project was developed to provide automated feedback on source code. The application allows the user to select a programming language, enter code, and receive information about potential issues, suggestions for improvement, and basic complexity analysis.</a:t>
            </a:r>
            <a:endParaRPr lang="en-US" sz="1800"/>
          </a:p>
          <a:p>
            <a:pPr>
              <a:buNone/>
            </a:pPr>
            <a:r>
              <a:rPr lang="en-US" sz="1800" b="1"/>
              <a:t>3. To-Do List Application</a:t>
            </a:r>
            <a:endParaRPr lang="en-US" sz="1800" b="1"/>
          </a:p>
          <a:p>
            <a:pPr>
              <a:buNone/>
            </a:pPr>
            <a:r>
              <a:rPr lang="en-US" sz="1800">
                <a:ea typeface="+mn-lt"/>
                <a:cs typeface="+mn-lt"/>
              </a:rPr>
              <a:t>      A To-Do List application was developed to help users manage daily tasks. The application provides functionality for adding tasks and organizing them according to their completion status, with a simple and interactive interface.</a:t>
            </a:r>
            <a:endParaRPr lang="en-US" sz="1800"/>
          </a:p>
          <a:p>
            <a:pPr>
              <a:buNone/>
            </a:pPr>
            <a:r>
              <a:rPr lang="en-US" sz="1800">
                <a:ea typeface="+mn-lt"/>
                <a:cs typeface="+mn-lt"/>
              </a:rPr>
              <a:t>These projects provided practical experience in web development, programming, user-interface design, debugging, and project implementation.</a:t>
            </a:r>
            <a:endParaRPr lang="en-US" sz="1800"/>
          </a:p>
          <a:p>
            <a:pPr marL="0" indent="0">
              <a:buNone/>
            </a:pP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291187"/>
            <a:ext cx="10515600" cy="5885776"/>
          </a:xfrm>
        </p:spPr>
        <p:txBody>
          <a:bodyPr vert="horz" lIns="91440" tIns="45720" rIns="91440" bIns="45720" rtlCol="0" anchor="t">
            <a:normAutofit/>
          </a:bodyPr>
          <a:lstStyle/>
          <a:p>
            <a:pPr>
              <a:buNone/>
            </a:pPr>
            <a:r>
              <a:rPr lang="en-US"/>
              <a:t>4.10 Certificate of Completion</a:t>
            </a:r>
            <a:endParaRPr lang="en-US"/>
          </a:p>
          <a:p>
            <a:pPr>
              <a:buNone/>
            </a:pPr>
            <a:endParaRPr lang="en-US" dirty="0">
              <a:ea typeface="+mn-lt"/>
              <a:cs typeface="+mn-lt"/>
            </a:endParaRPr>
          </a:p>
          <a:p>
            <a:pPr>
              <a:buNone/>
            </a:pPr>
            <a:r>
              <a:rPr lang="en-US" sz="1800">
                <a:ea typeface="+mn-lt"/>
                <a:cs typeface="+mn-lt"/>
              </a:rPr>
              <a:t>  The Certificate of Completion issued by CodSoft confirming the successful completion of the internship is attached below.</a:t>
            </a:r>
            <a:endParaRPr lang="en-US" sz="1800"/>
          </a:p>
          <a:p>
            <a:pPr>
              <a:buNone/>
            </a:pPr>
            <a:r>
              <a:rPr lang="en-US" sz="1800">
                <a:ea typeface="+mn-lt"/>
                <a:cs typeface="+mn-lt"/>
              </a:rPr>
              <a:t>   The certificate serves as formal confirmation of the completion of the internship and participation in the assigned project-based learning activities.</a:t>
            </a:r>
            <a:endParaRPr lang="en-US" sz="1800"/>
          </a:p>
          <a:p>
            <a:pPr>
              <a:buNone/>
            </a:pPr>
            <a:endParaRPr lang="en-US" sz="1800" dirty="0">
              <a:ea typeface="+mn-lt"/>
              <a:cs typeface="+mn-lt"/>
            </a:endParaRPr>
          </a:p>
          <a:p>
            <a:pPr>
              <a:buNone/>
            </a:pPr>
            <a:r>
              <a:rPr lang="en-US" sz="1800">
                <a:ea typeface="+mn-lt"/>
                <a:cs typeface="+mn-lt"/>
              </a:rPr>
              <a:t>       Organization: CodSoft</a:t>
            </a:r>
            <a:br>
              <a:rPr lang="en-US" sz="1800" dirty="0">
                <a:ea typeface="+mn-lt"/>
                <a:cs typeface="+mn-lt"/>
              </a:rPr>
            </a:br>
            <a:r>
              <a:rPr lang="en-US" sz="1800" dirty="0">
                <a:ea typeface="+mn-lt"/>
                <a:cs typeface="+mn-lt"/>
              </a:rPr>
              <a:t> Internship Domain: [Your exact internship domain]</a:t>
            </a:r>
            <a:br>
              <a:rPr lang="en-US" sz="1800" dirty="0">
                <a:ea typeface="+mn-lt"/>
                <a:cs typeface="+mn-lt"/>
              </a:rPr>
            </a:br>
            <a:r>
              <a:rPr lang="en-US" sz="1800" dirty="0">
                <a:ea typeface="+mn-lt"/>
                <a:cs typeface="+mn-lt"/>
              </a:rPr>
              <a:t> Student Name: Ritika Singh</a:t>
            </a:r>
            <a:br>
              <a:rPr lang="en-US" sz="1800" dirty="0">
                <a:ea typeface="+mn-lt"/>
                <a:cs typeface="+mn-lt"/>
              </a:rPr>
            </a:br>
            <a:r>
              <a:rPr lang="en-US" sz="1800" dirty="0">
                <a:ea typeface="+mn-lt"/>
                <a:cs typeface="+mn-lt"/>
              </a:rPr>
              <a:t> Internship Duration: [Start Date] – [End Date]</a:t>
            </a:r>
            <a:endParaRPr lang="en-US" sz="1800" dirty="0"/>
          </a:p>
          <a:p>
            <a:pPr marL="0" indent="0">
              <a:buNone/>
            </a:pP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86805"/>
            <a:ext cx="10515600" cy="6449445"/>
          </a:xfrm>
        </p:spPr>
        <p:txBody>
          <a:bodyPr vert="horz" lIns="91440" tIns="45720" rIns="91440" bIns="45720" rtlCol="0" anchor="t">
            <a:normAutofit fontScale="85000" lnSpcReduction="10000"/>
          </a:bodyPr>
          <a:lstStyle/>
          <a:p>
            <a:pPr>
              <a:buNone/>
            </a:pPr>
            <a:r>
              <a:rPr lang="en-US"/>
              <a:t>4.8 Methodology</a:t>
            </a:r>
            <a:endParaRPr lang="en-US"/>
          </a:p>
          <a:p>
            <a:pPr>
              <a:buNone/>
            </a:pPr>
            <a:r>
              <a:rPr lang="en-US" sz="1800">
                <a:ea typeface="+mn-lt"/>
                <a:cs typeface="+mn-lt"/>
              </a:rPr>
              <a:t>      The internship followed a project-based learning methodology, where each project was developed through a sequence of practical development activities. The methodology helped in applying theoretical concepts while gaining hands-on experience in software and web development.</a:t>
            </a:r>
            <a:endParaRPr lang="en-US" sz="1800"/>
          </a:p>
          <a:p>
            <a:pPr>
              <a:buNone/>
            </a:pPr>
            <a:r>
              <a:rPr lang="en-US" sz="1800" b="1"/>
              <a:t>step1</a:t>
            </a:r>
            <a:r>
              <a:rPr lang="en-US" sz="1800"/>
              <a:t>: Requirement Analysis</a:t>
            </a:r>
            <a:endParaRPr lang="en-US" sz="1800"/>
          </a:p>
          <a:p>
            <a:pPr>
              <a:buNone/>
            </a:pPr>
            <a:r>
              <a:rPr lang="en-US" sz="1800">
                <a:ea typeface="+mn-lt"/>
                <a:cs typeface="+mn-lt"/>
              </a:rPr>
              <a:t>                The requirements and expected features of each project were studied before beginning development.</a:t>
            </a:r>
            <a:endParaRPr lang="en-US" sz="1800"/>
          </a:p>
          <a:p>
            <a:pPr>
              <a:buNone/>
            </a:pPr>
            <a:r>
              <a:rPr lang="en-US" sz="1800" b="1"/>
              <a:t>Step 2</a:t>
            </a:r>
            <a:r>
              <a:rPr lang="en-US" sz="1800"/>
              <a:t>: Planning</a:t>
            </a:r>
            <a:endParaRPr lang="en-US" sz="1800"/>
          </a:p>
          <a:p>
            <a:pPr>
              <a:buNone/>
            </a:pPr>
            <a:r>
              <a:rPr lang="en-US" sz="1800">
                <a:ea typeface="+mn-lt"/>
                <a:cs typeface="+mn-lt"/>
              </a:rPr>
              <a:t>                The project structure, required technologies, features, and implementation approach were planned according to </a:t>
            </a:r>
            <a:endParaRPr lang="en-US" sz="1800"/>
          </a:p>
          <a:p>
            <a:pPr>
              <a:buNone/>
            </a:pPr>
            <a:r>
              <a:rPr lang="en-US" sz="1800"/>
              <a:t>                the requirement.</a:t>
            </a:r>
            <a:endParaRPr lang="en-US" sz="1800"/>
          </a:p>
          <a:p>
            <a:pPr>
              <a:buNone/>
            </a:pPr>
            <a:r>
              <a:rPr lang="en-US" sz="1800" b="1"/>
              <a:t>Step 3</a:t>
            </a:r>
            <a:r>
              <a:rPr lang="en-US" sz="1800"/>
              <a:t>: Design</a:t>
            </a:r>
            <a:endParaRPr lang="en-US" sz="1800"/>
          </a:p>
          <a:p>
            <a:pPr>
              <a:buNone/>
            </a:pPr>
            <a:r>
              <a:rPr lang="en-US" sz="1800">
                <a:ea typeface="+mn-lt"/>
                <a:cs typeface="+mn-lt"/>
              </a:rPr>
              <a:t>                 The user interface and overall structure of the projects were designed with emphasis on simplicity, organization, and usability.</a:t>
            </a:r>
            <a:endParaRPr lang="en-US" sz="1800"/>
          </a:p>
          <a:p>
            <a:pPr>
              <a:buNone/>
            </a:pPr>
            <a:r>
              <a:rPr lang="en-US" sz="1800" b="1"/>
              <a:t>Step 4</a:t>
            </a:r>
            <a:r>
              <a:rPr lang="en-US" sz="1800"/>
              <a:t>: Development</a:t>
            </a:r>
            <a:endParaRPr lang="en-US" sz="1800"/>
          </a:p>
          <a:p>
            <a:pPr>
              <a:buNone/>
            </a:pPr>
            <a:r>
              <a:rPr lang="en-US" sz="1800" dirty="0">
                <a:ea typeface="+mn-lt"/>
                <a:cs typeface="+mn-lt"/>
              </a:rPr>
              <a:t>                The projects were implemented using the appropriate programming and web development technologies. Code </a:t>
            </a:r>
            <a:r>
              <a:rPr lang="en-US" sz="1800">
                <a:ea typeface="+mn-lt"/>
                <a:cs typeface="+mn-lt"/>
              </a:rPr>
              <a:t>written,       integrated, and modified as required.</a:t>
            </a:r>
            <a:endParaRPr lang="en-US" sz="1800"/>
          </a:p>
          <a:p>
            <a:pPr>
              <a:buNone/>
            </a:pPr>
            <a:r>
              <a:rPr lang="en-US" sz="1800" b="1"/>
              <a:t>Step 5</a:t>
            </a:r>
            <a:r>
              <a:rPr lang="en-US" sz="1800"/>
              <a:t>: Testing and Debugging</a:t>
            </a:r>
            <a:endParaRPr lang="en-US" sz="1800"/>
          </a:p>
          <a:p>
            <a:pPr>
              <a:buNone/>
            </a:pPr>
            <a:r>
              <a:rPr lang="en-US" sz="1800">
                <a:ea typeface="+mn-lt"/>
                <a:cs typeface="+mn-lt"/>
              </a:rPr>
              <a:t>               The developed projects were tested to identify errors and functionality issues. Debugging was performed to correct problems and ensure that the required features worked properly.</a:t>
            </a:r>
            <a:endParaRPr lang="en-US" sz="1800"/>
          </a:p>
          <a:p>
            <a:pPr>
              <a:buNone/>
            </a:pPr>
            <a:r>
              <a:rPr lang="en-US" sz="1800" b="1"/>
              <a:t>Step 6</a:t>
            </a:r>
            <a:r>
              <a:rPr lang="en-US" sz="1800"/>
              <a:t>: Improvement and Refinement</a:t>
            </a:r>
            <a:endParaRPr lang="en-US" sz="1800"/>
          </a:p>
          <a:p>
            <a:pPr>
              <a:buNone/>
            </a:pPr>
            <a:r>
              <a:rPr lang="en-US" sz="1800">
                <a:ea typeface="+mn-lt"/>
                <a:cs typeface="+mn-lt"/>
              </a:rPr>
              <a:t>                After testing, necessary improvements were made to the design, functionality, and user experience of the projects.</a:t>
            </a:r>
            <a:endParaRPr lang="en-US" sz="1800"/>
          </a:p>
          <a:p>
            <a:pPr>
              <a:buNone/>
            </a:pPr>
            <a:r>
              <a:rPr lang="en-US" sz="1800" b="1"/>
              <a:t>Step 7</a:t>
            </a:r>
            <a:r>
              <a:rPr lang="en-US" sz="1800"/>
              <a:t>: Finalization</a:t>
            </a:r>
            <a:endParaRPr lang="en-US" sz="1800"/>
          </a:p>
          <a:p>
            <a:pPr>
              <a:buNone/>
            </a:pPr>
            <a:r>
              <a:rPr lang="en-US" sz="1800">
                <a:ea typeface="+mn-lt"/>
                <a:cs typeface="+mn-lt"/>
              </a:rPr>
              <a:t>               The completed projects were reviewed and prepared for final submission after ensuring that the required features and project </a:t>
            </a:r>
            <a:r>
              <a:rPr lang="en-US" sz="1800" dirty="0">
                <a:ea typeface="+mn-lt"/>
                <a:cs typeface="+mn-lt"/>
              </a:rPr>
              <a:t>objectives had been addressed.</a:t>
            </a:r>
            <a:endParaRPr lang="en-US" sz="1800" dirty="0"/>
          </a:p>
          <a:p>
            <a:pPr marL="0" indent="0">
              <a:buNone/>
            </a:pP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44780"/>
            <a:ext cx="10515600" cy="6640195"/>
          </a:xfrm>
        </p:spPr>
        <p:txBody>
          <a:bodyPr>
            <a:noAutofit/>
          </a:bodyPr>
          <a:p>
            <a:pPr marL="0" indent="0">
              <a:buNone/>
            </a:pPr>
            <a:r>
              <a:rPr lang="en-US" altLang="en-US" sz="2000"/>
              <a:t>4.9 Expected Outcomes</a:t>
            </a:r>
            <a:endParaRPr lang="en-US" altLang="en-US" sz="2000"/>
          </a:p>
          <a:p>
            <a:pPr marL="0" indent="0">
              <a:buNone/>
            </a:pPr>
            <a:r>
              <a:rPr lang="en-US" altLang="en-US" sz="1700"/>
              <a:t>The internship was expected to provide practical exposure to web development and software development concepts through the implementation of different projects. The major expected outcomes of the internship were:</a:t>
            </a:r>
            <a:endParaRPr lang="en-US" altLang="en-US" sz="1700"/>
          </a:p>
          <a:p>
            <a:pPr marL="0" indent="0">
              <a:buNone/>
            </a:pPr>
            <a:endParaRPr lang="en-US" altLang="en-US" sz="1700"/>
          </a:p>
          <a:p>
            <a:pPr marL="0" indent="0">
              <a:buNone/>
            </a:pPr>
            <a:r>
              <a:rPr lang="en-US" altLang="en-US" sz="1700"/>
              <a:t>To develop a better understanding of HTML, CSS, and JavaScript and their practical applications.</a:t>
            </a:r>
            <a:endParaRPr lang="en-US" altLang="en-US" sz="1700"/>
          </a:p>
          <a:p>
            <a:pPr marL="0" indent="0">
              <a:buNone/>
            </a:pPr>
            <a:r>
              <a:rPr lang="en-US" altLang="en-US" sz="1700"/>
              <a:t>To gain hands-on experience in designing and developing interactive and responsive web applications.</a:t>
            </a:r>
            <a:endParaRPr lang="en-US" altLang="en-US" sz="1700"/>
          </a:p>
          <a:p>
            <a:pPr marL="0" indent="0">
              <a:buNone/>
            </a:pPr>
            <a:r>
              <a:rPr lang="en-US" altLang="en-US" sz="1700"/>
              <a:t>To understand the process of developing projects from planning and designing to implementation and testing.</a:t>
            </a:r>
            <a:endParaRPr lang="en-US" altLang="en-US" sz="1700"/>
          </a:p>
          <a:p>
            <a:pPr marL="0" indent="0">
              <a:buNone/>
            </a:pPr>
            <a:r>
              <a:rPr lang="en-US" altLang="en-US" sz="1700"/>
              <a:t>To improve problem-solving and programming skills through practical project development.</a:t>
            </a:r>
            <a:endParaRPr lang="en-US" altLang="en-US" sz="1700"/>
          </a:p>
          <a:p>
            <a:pPr marL="0" indent="0">
              <a:buNone/>
            </a:pPr>
            <a:r>
              <a:rPr lang="en-US" altLang="en-US" sz="1700"/>
              <a:t>To develop projects such as a Portfolio Website, To-Do List, Expense Tracker, and AI Code Review application.</a:t>
            </a:r>
            <a:endParaRPr lang="en-US" altLang="en-US" sz="1700"/>
          </a:p>
          <a:p>
            <a:pPr marL="0" indent="0">
              <a:buNone/>
            </a:pPr>
            <a:r>
              <a:rPr lang="en-US" altLang="en-US" sz="1700"/>
              <a:t>To gain experience in using GitHub for project management and version control.</a:t>
            </a:r>
            <a:endParaRPr lang="en-US" altLang="en-US" sz="1700"/>
          </a:p>
          <a:p>
            <a:pPr marL="0" indent="0">
              <a:buNone/>
            </a:pPr>
            <a:r>
              <a:rPr lang="en-US" altLang="en-US" sz="1700"/>
              <a:t>To understand the importance of user-friendly interfaces and organized code structure.</a:t>
            </a:r>
            <a:endParaRPr lang="en-US" altLang="en-US" sz="1700"/>
          </a:p>
          <a:p>
            <a:pPr marL="0" indent="0">
              <a:buNone/>
            </a:pPr>
            <a:r>
              <a:rPr lang="en-US" altLang="en-US" sz="1700"/>
              <a:t>To improve technical skills, documentation skills, and confidence in working on software development projects.</a:t>
            </a:r>
            <a:endParaRPr lang="en-US" altLang="en-US" sz="1700"/>
          </a:p>
          <a:p>
            <a:pPr marL="0" indent="0">
              <a:buNone/>
            </a:pPr>
            <a:r>
              <a:rPr lang="en-US" altLang="en-US" sz="1700"/>
              <a:t>To apply the theoretical concepts learned during academic coursework to practical development tasks.</a:t>
            </a:r>
            <a:endParaRPr lang="en-US" altLang="en-US" sz="1700"/>
          </a:p>
          <a:p>
            <a:pPr marL="0" indent="0">
              <a:buNone/>
            </a:pPr>
            <a:endParaRPr lang="en-US" altLang="en-US" sz="1700"/>
          </a:p>
          <a:p>
            <a:pPr marL="0" indent="0">
              <a:buNone/>
            </a:pPr>
            <a:r>
              <a:rPr lang="en-US" altLang="en-US" sz="1700"/>
              <a:t>Overall, the expected outcome was to gain practical knowledge and experience in software and web development while developing functional projects that demonstrate the skills acquired during the internship.</a:t>
            </a:r>
            <a:endParaRPr lang="en-US" altLang="en-US" sz="17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838200" y="167005"/>
            <a:ext cx="10515600" cy="6010275"/>
          </a:xfrm>
        </p:spPr>
        <p:txBody>
          <a:bodyPr/>
          <a:p>
            <a:pPr marL="0" indent="0">
              <a:buNone/>
            </a:pPr>
            <a:r>
              <a:rPr lang="en-IN" altLang="en-US" sz="2400"/>
              <a:t>4.10 certificate of completion </a:t>
            </a:r>
            <a:endParaRPr lang="en-IN" altLang="en-US" sz="2400"/>
          </a:p>
          <a:p>
            <a:pPr marL="0" indent="0">
              <a:buNone/>
            </a:pPr>
            <a:endParaRPr lang="en-IN" altLang="en-US" sz="2000"/>
          </a:p>
          <a:p>
            <a:pPr marL="0" indent="0">
              <a:buNone/>
            </a:pPr>
            <a:r>
              <a:rPr lang="en-IN" altLang="en-US" sz="2000"/>
              <a:t>   T</a:t>
            </a:r>
            <a:r>
              <a:rPr lang="en-US" altLang="en-US" sz="2000"/>
              <a:t>he certificate of internship completion issued by </a:t>
            </a:r>
            <a:r>
              <a:rPr lang="en-IN" altLang="en-US" sz="2000"/>
              <a:t>CodSoft</a:t>
            </a:r>
            <a:r>
              <a:rPr lang="en-US" altLang="en-US" sz="2000"/>
              <a:t>, confirming</a:t>
            </a:r>
            <a:r>
              <a:rPr lang="en-IN" altLang="en-US" sz="2000"/>
              <a:t>,</a:t>
            </a:r>
            <a:r>
              <a:rPr lang="en-US" altLang="en-US" sz="2000"/>
              <a:t> successful completion of the </a:t>
            </a:r>
            <a:r>
              <a:rPr lang="en-IN" altLang="en-US" sz="2000"/>
              <a:t>frontend development</a:t>
            </a:r>
            <a:r>
              <a:rPr lang="en-US" altLang="en-US" sz="2000"/>
              <a:t> Internship from </a:t>
            </a:r>
            <a:r>
              <a:rPr lang="en-IN" altLang="en-US" sz="2000"/>
              <a:t>19-08-2026 to 19-092026.</a:t>
            </a:r>
            <a:endParaRPr lang="en-IN" altLang="en-US" sz="2000"/>
          </a:p>
          <a:p>
            <a:pPr marL="0" indent="0">
              <a:buNone/>
            </a:pPr>
            <a:endParaRPr lang="en-US" altLang="en-US" sz="2000"/>
          </a:p>
          <a:p>
            <a:pPr marL="0" indent="0">
              <a:buNone/>
            </a:pPr>
            <a:r>
              <a:rPr lang="en-US" altLang="en-US" sz="2400"/>
              <a:t>BIBLIOGRAPHY / REFERENCES</a:t>
            </a:r>
            <a:endParaRPr lang="en-US" altLang="en-US" sz="2400"/>
          </a:p>
          <a:p>
            <a:pPr marL="0" indent="0">
              <a:buNone/>
            </a:pPr>
            <a:r>
              <a:rPr lang="en-IN" altLang="en-US" sz="2000"/>
              <a:t>1.</a:t>
            </a:r>
            <a:r>
              <a:rPr lang="en-US" altLang="en-US" sz="2000"/>
              <a:t>MDN Web Docs – HTML, CSS and JavaScript documentation.</a:t>
            </a:r>
            <a:endParaRPr lang="en-US" altLang="en-US" sz="2000"/>
          </a:p>
          <a:p>
            <a:pPr marL="0" indent="0">
              <a:buNone/>
            </a:pPr>
            <a:r>
              <a:rPr lang="en-IN" altLang="en-US" sz="2000"/>
              <a:t>                               </a:t>
            </a:r>
            <a:r>
              <a:rPr lang="en-US" altLang="en-US" sz="2000"/>
              <a:t>https://developer.mozilla.org/</a:t>
            </a:r>
            <a:endParaRPr lang="en-US" altLang="en-US" sz="2000"/>
          </a:p>
          <a:p>
            <a:pPr marL="0" indent="0">
              <a:buNone/>
            </a:pPr>
            <a:r>
              <a:rPr lang="en-IN" altLang="en-US" sz="2000"/>
              <a:t>2.</a:t>
            </a:r>
            <a:r>
              <a:rPr lang="en-US" altLang="en-US" sz="2000"/>
              <a:t>W3Schools – Web development tutorials and references.</a:t>
            </a:r>
            <a:endParaRPr lang="en-US" altLang="en-US" sz="2000"/>
          </a:p>
          <a:p>
            <a:pPr marL="0" indent="0">
              <a:buNone/>
            </a:pPr>
            <a:r>
              <a:rPr lang="en-IN" altLang="en-US" sz="2000"/>
              <a:t>                              </a:t>
            </a:r>
            <a:r>
              <a:rPr lang="en-US" altLang="en-US" sz="2000"/>
              <a:t>https://www.w3schools.com/</a:t>
            </a:r>
            <a:endParaRPr lang="en-US" altLang="en-US" sz="2000"/>
          </a:p>
          <a:p>
            <a:pPr marL="0" indent="0">
              <a:buNone/>
            </a:pPr>
            <a:r>
              <a:rPr lang="en-IN" altLang="en-US" sz="2000"/>
              <a:t>3.</a:t>
            </a:r>
            <a:r>
              <a:rPr lang="en-US" altLang="en-US" sz="2000"/>
              <a:t>GitHub Documentation – Repository and version control documentation.</a:t>
            </a:r>
            <a:endParaRPr lang="en-US" altLang="en-US" sz="2000"/>
          </a:p>
          <a:p>
            <a:pPr marL="0" indent="0">
              <a:buNone/>
            </a:pPr>
            <a:r>
              <a:rPr lang="en-IN" altLang="en-US" sz="2000"/>
              <a:t>                                        </a:t>
            </a:r>
            <a:r>
              <a:rPr lang="en-US" altLang="en-US" sz="2000"/>
              <a:t>https://docs.github.com/</a:t>
            </a:r>
            <a:endParaRPr lang="en-US" altLang="en-US" sz="2000"/>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15513</Words>
  <Application>WPS Presentation</Application>
  <PresentationFormat>Widescreen</PresentationFormat>
  <Paragraphs>179</Paragraphs>
  <Slides>15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15</vt:i4>
      </vt:variant>
    </vt:vector>
  </HeadingPairs>
  <TitlesOfParts>
    <vt:vector size="27" baseType="lpstr">
      <vt:lpstr>Arial</vt:lpstr>
      <vt:lpstr>SimSun</vt:lpstr>
      <vt:lpstr>Wingdings</vt:lpstr>
      <vt:lpstr>Times New Roman</vt:lpstr>
      <vt:lpstr>Calibri</vt:lpstr>
      <vt:lpstr>Microsoft YaHei</vt:lpstr>
      <vt:lpstr>Arial Unicode MS</vt:lpstr>
      <vt:lpstr>Aptos Display</vt:lpstr>
      <vt:lpstr>Segoe UI Variable Display</vt:lpstr>
      <vt:lpstr>Aptos</vt:lpstr>
      <vt:lpstr>Segoe UI</vt:lpstr>
      <vt:lpstr>Office Theme</vt:lpstr>
      <vt:lpstr>Name of Student: RITIKA SINGH Batch: 2026-27</vt:lpstr>
      <vt:lpstr>CANDIDATE's DECLARATION</vt:lpstr>
      <vt:lpstr>ACKNOWLEDGEMENT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Ritika Singh</cp:lastModifiedBy>
  <cp:revision>274</cp:revision>
  <dcterms:created xsi:type="dcterms:W3CDTF">2026-09-19T14:39:00Z</dcterms:created>
  <dcterms:modified xsi:type="dcterms:W3CDTF">2026-09-20T17:14:11Z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F0C4716FFDF647988ECD8BE626B024DE_13</vt:lpwstr>
  </property>
  <property fmtid="{D5CDD505-2E9C-101B-9397-08002B2CF9AE}" pid="3" name="KSOProductBuildVer">
    <vt:lpwstr>1033-12.1.0.28485</vt:lpwstr>
  </property>
</Properties>
</file>